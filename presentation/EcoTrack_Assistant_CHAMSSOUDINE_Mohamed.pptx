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" id="{BE0F9BDD-6EEC-9593-14A5-4F56519BF662}">
          <p14:sldIdLst>
            <p14:sldId id="256"/>
          </p14:sldIdLst>
        </p14:section>
        <p14:section name="Corpus et fonctionnement" id="{174783D8-2DEA-E1FD-AEBA-F8D8BA3E0AF0}">
          <p14:sldIdLst>
            <p14:sldId id="257"/>
            <p14:sldId id="258"/>
          </p14:sldIdLst>
        </p14:section>
        <p14:section name="Résultats" id="{8897307E-10A9-50C9-1F60-D7E4222356F0}">
          <p14:sldIdLst>
            <p14:sldId id="259"/>
          </p14:sldIdLst>
        </p14:section>
        <p14:section name="Difficultés" id="{B53BBD8D-C01B-6C33-76C9-FF8D30440706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1709" autoAdjust="0"/>
  </p:normalViewPr>
  <p:slideViewPr>
    <p:cSldViewPr snapToGrid="0" snapToObjects="1">
      <p:cViewPr varScale="1">
        <p:scale>
          <a:sx n="87" d="100"/>
          <a:sy n="87" d="100"/>
        </p:scale>
        <p:origin x="13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628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606040" y="1051560"/>
            <a:ext cx="51206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2"/>
                </a:solidFill>
              </a:rPr>
              <a:t>EcoTrack Assistant · CHAMSSOUDINE &amp; Mohamed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ône conteneur de tri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097280"/>
            <a:ext cx="822960" cy="82296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2606040" y="10515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accent1"/>
                </a:solidFill>
              </a:rPr>
              <a:t>EcoTrack Assistant</a:t>
            </a:r>
            <a:endParaRPr lang="en-US" sz="4400" dirty="0"/>
          </a:p>
        </p:txBody>
      </p:sp>
      <p:sp>
        <p:nvSpPr>
          <p:cNvPr id="4" name="Ligne sous le titre"/>
          <p:cNvSpPr/>
          <p:nvPr/>
        </p:nvSpPr>
        <p:spPr>
          <a:xfrm>
            <a:off x="2286000" y="2148840"/>
            <a:ext cx="45720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23317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Répondre à partir de la documentation, citer ses sources, refuser poliment hors périmètre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2461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2"/>
                </a:solidFill>
              </a:rPr>
              <a:t>Embeddings · recherche sémantique · RAG avec Gemini</a:t>
            </a:r>
            <a:endParaRPr lang="en-US" sz="1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CHAMSSOUDINE &amp; </a:t>
            </a:r>
            <a:r>
              <a:rPr lang="en-US" sz="1600" b="1" dirty="0" smtClean="0">
                <a:solidFill>
                  <a:schemeClr val="tx1"/>
                </a:solidFill>
              </a:rPr>
              <a:t>MOHAMED</a:t>
            </a:r>
            <a:r>
              <a:rPr lang="en-US" sz="1600" dirty="0" smtClean="0">
                <a:solidFill>
                  <a:schemeClr val="tx1"/>
                </a:solidFill>
              </a:rPr>
              <a:t>— </a:t>
            </a:r>
            <a:r>
              <a:rPr lang="en-US" sz="1600" dirty="0">
                <a:solidFill>
                  <a:schemeClr val="tx1"/>
                </a:solidFill>
              </a:rPr>
              <a:t>M2 · Ingetis</a:t>
            </a:r>
            <a:endParaRPr lang="en-US" sz="1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Vendredi 2 octobre 2026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1"/>
                </a:solidFill>
              </a:rPr>
              <a:t>7 documents, découpés en 14 passages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7 documents</a:t>
            </a:r>
            <a:r>
              <a:rPr lang="en-US" sz="1400" dirty="0">
                <a:solidFill>
                  <a:schemeClr val="tx1"/>
                </a:solidFill>
              </a:rPr>
              <a:t> EcoTrack</a:t>
            </a:r>
            <a:endParaRPr lang="en-US" sz="1400" dirty="0"/>
          </a:p>
        </p:txBody>
      </p:sp>
      <p:sp>
        <p:nvSpPr>
          <p:cNvPr id="4" name="Carte Règlement"/>
          <p:cNvSpPr/>
          <p:nvPr/>
        </p:nvSpPr>
        <p:spPr>
          <a:xfrm>
            <a:off x="457200" y="1371600"/>
            <a:ext cx="1783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1790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142646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Règlement</a:t>
            </a:r>
            <a:endParaRPr lang="en-US" sz="1200" dirty="0"/>
          </a:p>
        </p:txBody>
      </p:sp>
      <p:sp>
        <p:nvSpPr>
          <p:cNvPr id="7" name="Carte Tri"/>
          <p:cNvSpPr/>
          <p:nvPr/>
        </p:nvSpPr>
        <p:spPr>
          <a:xfrm>
            <a:off x="457200" y="2075688"/>
            <a:ext cx="1783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21992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0120" y="21305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Tri</a:t>
            </a:r>
            <a:endParaRPr lang="en-US" sz="1200" dirty="0"/>
          </a:p>
        </p:txBody>
      </p:sp>
      <p:sp>
        <p:nvSpPr>
          <p:cNvPr id="10" name="Carte Débordement"/>
          <p:cNvSpPr/>
          <p:nvPr/>
        </p:nvSpPr>
        <p:spPr>
          <a:xfrm>
            <a:off x="457200" y="2779776"/>
            <a:ext cx="1783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60120" y="2834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Débordement</a:t>
            </a:r>
            <a:endParaRPr lang="en-US" sz="1200" dirty="0"/>
          </a:p>
        </p:txBody>
      </p:sp>
      <p:sp>
        <p:nvSpPr>
          <p:cNvPr id="13" name="Carte Horaires"/>
          <p:cNvSpPr/>
          <p:nvPr/>
        </p:nvSpPr>
        <p:spPr>
          <a:xfrm>
            <a:off x="457200" y="3483864"/>
            <a:ext cx="1783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30168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60120" y="353872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Horaires</a:t>
            </a:r>
            <a:endParaRPr lang="en-US" sz="1200" dirty="0"/>
          </a:p>
        </p:txBody>
      </p:sp>
      <p:sp>
        <p:nvSpPr>
          <p:cNvPr id="16" name="Carte Plateforme"/>
          <p:cNvSpPr/>
          <p:nvPr/>
        </p:nvSpPr>
        <p:spPr>
          <a:xfrm>
            <a:off x="2377440" y="1371600"/>
            <a:ext cx="1783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517904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880360" y="142646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Plateforme</a:t>
            </a:r>
            <a:endParaRPr lang="en-US" sz="1200" dirty="0"/>
          </a:p>
        </p:txBody>
      </p:sp>
      <p:sp>
        <p:nvSpPr>
          <p:cNvPr id="19" name="Carte Cahier des charges"/>
          <p:cNvSpPr/>
          <p:nvPr/>
        </p:nvSpPr>
        <p:spPr>
          <a:xfrm>
            <a:off x="2377440" y="2075688"/>
            <a:ext cx="1783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2221992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2880360" y="21305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Cahier des charges</a:t>
            </a:r>
            <a:endParaRPr lang="en-US" sz="1200" dirty="0"/>
          </a:p>
        </p:txBody>
      </p:sp>
      <p:sp>
        <p:nvSpPr>
          <p:cNvPr id="22" name="Carte Sécurité"/>
          <p:cNvSpPr/>
          <p:nvPr/>
        </p:nvSpPr>
        <p:spPr>
          <a:xfrm>
            <a:off x="2377440" y="2779776"/>
            <a:ext cx="1783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2926080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2880360" y="2834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Sécurité</a:t>
            </a:r>
            <a:endParaRPr lang="en-US" sz="1200" dirty="0"/>
          </a:p>
        </p:txBody>
      </p:sp>
      <p:sp>
        <p:nvSpPr>
          <p:cNvPr id="25" name="Text 16"/>
          <p:cNvSpPr txBox="1"/>
          <p:nvPr/>
        </p:nvSpPr>
        <p:spPr>
          <a:xfrm>
            <a:off x="4572000" y="987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Découpés en </a:t>
            </a:r>
            <a:r>
              <a:rPr lang="en-US" sz="1400" b="1" dirty="0">
                <a:solidFill>
                  <a:schemeClr val="tx1"/>
                </a:solidFill>
              </a:rPr>
              <a:t>14 passages</a:t>
            </a:r>
            <a:r>
              <a:rPr lang="en-US" sz="1400" dirty="0">
                <a:solidFill>
                  <a:schemeClr val="tx1"/>
                </a:solidFill>
              </a:rPr>
              <a:t> de 600 caractères</a:t>
            </a:r>
            <a:endParaRPr lang="en-US" sz="1400" dirty="0"/>
          </a:p>
        </p:txBody>
      </p:sp>
      <p:sp>
        <p:nvSpPr>
          <p:cNvPr id="26" name="Text 17"/>
          <p:cNvSpPr txBox="1"/>
          <p:nvPr/>
        </p:nvSpPr>
        <p:spPr>
          <a:xfrm>
            <a:off x="457200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Identifiant citable : </a:t>
            </a: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02_faq_tri.txt#P1</a:t>
            </a:r>
            <a:endParaRPr lang="en-US" sz="1400" dirty="0"/>
          </a:p>
        </p:txBody>
      </p:sp>
      <p:sp>
        <p:nvSpPr>
          <p:cNvPr id="27" name="Text 18"/>
          <p:cNvSpPr txBox="1"/>
          <p:nvPr/>
        </p:nvSpPr>
        <p:spPr>
          <a:xfrm>
            <a:off x="457200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Choix mesuré, pas supposé</a:t>
            </a:r>
            <a:endParaRPr lang="en-US" sz="1600" dirty="0"/>
          </a:p>
        </p:txBody>
      </p:sp>
      <p:sp>
        <p:nvSpPr>
          <p:cNvPr id="28" name="Text 19"/>
          <p:cNvSpPr txBox="1"/>
          <p:nvPr/>
        </p:nvSpPr>
        <p:spPr>
          <a:xfrm>
            <a:off x="4572000" y="2487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Fenêtre glissante</a:t>
            </a:r>
            <a:endParaRPr lang="en-US" sz="1200" dirty="0"/>
          </a:p>
        </p:txBody>
      </p:sp>
      <p:sp>
        <p:nvSpPr>
          <p:cNvPr id="29" name="Fond barre Fenêtre glissante"/>
          <p:cNvSpPr/>
          <p:nvPr/>
        </p:nvSpPr>
        <p:spPr>
          <a:xfrm>
            <a:off x="4572000" y="2779776"/>
            <a:ext cx="3108960" cy="329184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Barre Fenêtre glissante"/>
          <p:cNvSpPr/>
          <p:nvPr/>
        </p:nvSpPr>
        <p:spPr>
          <a:xfrm>
            <a:off x="4572000" y="2779776"/>
            <a:ext cx="2798064" cy="329184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7818120" y="259689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9/10</a:t>
            </a:r>
            <a:endParaRPr lang="en-US" sz="3000" dirty="0"/>
          </a:p>
        </p:txBody>
      </p:sp>
      <p:sp>
        <p:nvSpPr>
          <p:cNvPr id="32" name="Text 23"/>
          <p:cNvSpPr txBox="1"/>
          <p:nvPr/>
        </p:nvSpPr>
        <p:spPr>
          <a:xfrm>
            <a:off x="4572000" y="32644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Par paragraphe</a:t>
            </a:r>
            <a:endParaRPr lang="en-US" sz="1200" dirty="0"/>
          </a:p>
        </p:txBody>
      </p:sp>
      <p:sp>
        <p:nvSpPr>
          <p:cNvPr id="33" name="Fond barre Par paragraphe"/>
          <p:cNvSpPr/>
          <p:nvPr/>
        </p:nvSpPr>
        <p:spPr>
          <a:xfrm>
            <a:off x="4572000" y="3557016"/>
            <a:ext cx="3108960" cy="329184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Barre Par paragraphe"/>
          <p:cNvSpPr/>
          <p:nvPr/>
        </p:nvSpPr>
        <p:spPr>
          <a:xfrm>
            <a:off x="4572000" y="3557016"/>
            <a:ext cx="2487168" cy="329184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7818120" y="337413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8/10</a:t>
            </a:r>
            <a:endParaRPr lang="en-US" sz="22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Comment l'assistant répond</a:t>
            </a:r>
            <a:endParaRPr lang="en-US" sz="2800" dirty="0"/>
          </a:p>
        </p:txBody>
      </p:sp>
      <p:sp>
        <p:nvSpPr>
          <p:cNvPr id="3" name="Bloc 1"/>
          <p:cNvSpPr/>
          <p:nvPr/>
        </p:nvSpPr>
        <p:spPr>
          <a:xfrm>
            <a:off x="457200" y="1097280"/>
            <a:ext cx="1371600" cy="11430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30352" y="1188720"/>
            <a:ext cx="1225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Question</a:t>
            </a:r>
            <a:endParaRPr lang="en-US" sz="1300" dirty="0"/>
          </a:p>
        </p:txBody>
      </p:sp>
      <p:sp>
        <p:nvSpPr>
          <p:cNvPr id="5" name="Flèche 1"/>
          <p:cNvSpPr/>
          <p:nvPr/>
        </p:nvSpPr>
        <p:spPr>
          <a:xfrm>
            <a:off x="1874520" y="1668780"/>
            <a:ext cx="2514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" name="Bloc 2"/>
          <p:cNvSpPr/>
          <p:nvPr/>
        </p:nvSpPr>
        <p:spPr>
          <a:xfrm>
            <a:off x="2171700" y="1097280"/>
            <a:ext cx="1371600" cy="11430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244852" y="1188720"/>
            <a:ext cx="1225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Traduite en vecteur (MiniLM)</a:t>
            </a:r>
            <a:endParaRPr lang="en-US" sz="1300" dirty="0"/>
          </a:p>
        </p:txBody>
      </p:sp>
      <p:sp>
        <p:nvSpPr>
          <p:cNvPr id="8" name="Flèche 2"/>
          <p:cNvSpPr/>
          <p:nvPr/>
        </p:nvSpPr>
        <p:spPr>
          <a:xfrm>
            <a:off x="3589020" y="1668780"/>
            <a:ext cx="2514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Bloc 3"/>
          <p:cNvSpPr/>
          <p:nvPr/>
        </p:nvSpPr>
        <p:spPr>
          <a:xfrm>
            <a:off x="3886200" y="1097280"/>
            <a:ext cx="1371600" cy="11430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20700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959352" y="1508760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 passages les plus proches</a:t>
            </a:r>
            <a:endParaRPr lang="en-US" sz="1300" dirty="0"/>
          </a:p>
        </p:txBody>
      </p:sp>
      <p:sp>
        <p:nvSpPr>
          <p:cNvPr id="12" name="Flèche 3"/>
          <p:cNvSpPr/>
          <p:nvPr/>
        </p:nvSpPr>
        <p:spPr>
          <a:xfrm>
            <a:off x="5303520" y="1668780"/>
            <a:ext cx="2514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Bloc 4"/>
          <p:cNvSpPr/>
          <p:nvPr/>
        </p:nvSpPr>
        <p:spPr>
          <a:xfrm>
            <a:off x="5600700" y="1097280"/>
            <a:ext cx="1371600" cy="11430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673852" y="1188720"/>
            <a:ext cx="1225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Seuil 0,31</a:t>
            </a:r>
            <a:endParaRPr lang="en-US" sz="1300" dirty="0"/>
          </a:p>
        </p:txBody>
      </p:sp>
      <p:sp>
        <p:nvSpPr>
          <p:cNvPr id="15" name="Flèche 4"/>
          <p:cNvSpPr/>
          <p:nvPr/>
        </p:nvSpPr>
        <p:spPr>
          <a:xfrm>
            <a:off x="7018020" y="1668780"/>
            <a:ext cx="2514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Bloc 5"/>
          <p:cNvSpPr/>
          <p:nvPr/>
        </p:nvSpPr>
        <p:spPr>
          <a:xfrm>
            <a:off x="7315200" y="1097280"/>
            <a:ext cx="1371600" cy="11430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20700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388352" y="1508760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Gemini rédige et cite</a:t>
            </a:r>
            <a:endParaRPr lang="en-US" sz="1300" dirty="0"/>
          </a:p>
        </p:txBody>
      </p:sp>
      <p:sp>
        <p:nvSpPr>
          <p:cNvPr id="19" name="Barrière 1 · le seuil"/>
          <p:cNvSpPr/>
          <p:nvPr/>
        </p:nvSpPr>
        <p:spPr>
          <a:xfrm>
            <a:off x="457200" y="2560320"/>
            <a:ext cx="3977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88036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34440" y="2697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Barrière 1 · le seuil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Rien d’assez proche → refus, sans appeler Gemini</a:t>
            </a:r>
            <a:endParaRPr lang="en-US" sz="1400" dirty="0"/>
          </a:p>
        </p:txBody>
      </p:sp>
      <p:sp>
        <p:nvSpPr>
          <p:cNvPr id="22" name="Barrière 2 · la consigne"/>
          <p:cNvSpPr/>
          <p:nvPr/>
        </p:nvSpPr>
        <p:spPr>
          <a:xfrm>
            <a:off x="4709160" y="2560320"/>
            <a:ext cx="3977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88036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486400" y="2697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Barrière 2 · la consigne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Les passages ne contiennent pas la réponse → Gemini refuse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Autonomie</a:t>
            </a:r>
            <a:r>
              <a:rPr lang="en-US" sz="1500" dirty="0">
                <a:solidFill>
                  <a:schemeClr val="tx1"/>
                </a:solidFill>
              </a:rPr>
              <a:t> : faiblement autonome → </a:t>
            </a:r>
            <a:r>
              <a:rPr lang="en-US" sz="1500" b="1" dirty="0">
                <a:solidFill>
                  <a:schemeClr val="accent1"/>
                </a:solidFill>
              </a:rPr>
              <a:t>semi-autonome</a:t>
            </a:r>
            <a:r>
              <a:rPr lang="en-US" sz="1500" dirty="0">
                <a:solidFill>
                  <a:schemeClr val="tx1"/>
                </a:solidFill>
              </a:rPr>
              <a:t> avec l’outil</a:t>
            </a:r>
            <a:endParaRPr lang="en-US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1"/>
                </a:solidFill>
              </a:rPr>
              <a:t>Résultats sur les 10 questions du jeu de test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3"/>
                </a:solidFill>
              </a:rPr>
              <a:t>9/10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bon document trouvé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8686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3"/>
                </a:solidFill>
              </a:rPr>
              <a:t>7/10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bonne réponse</a:t>
            </a:r>
            <a:endParaRPr lang="en-US" sz="1400" dirty="0"/>
          </a:p>
        </p:txBody>
      </p:sp>
      <p:sp>
        <p:nvSpPr>
          <p:cNvPr id="7" name="Flèche 9 vers 7"/>
          <p:cNvSpPr/>
          <p:nvPr/>
        </p:nvSpPr>
        <p:spPr>
          <a:xfrm>
            <a:off x="3566160" y="1325880"/>
            <a:ext cx="201168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3383280" y="960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2"/>
                </a:solidFill>
              </a:rPr>
              <a:t>bon document ≠ bon passage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2128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L’écart : pour 2 questions, le bon document, mais </a:t>
            </a:r>
            <a:r>
              <a:rPr lang="en-US" sz="1400" b="1" dirty="0">
                <a:solidFill>
                  <a:schemeClr val="tx1"/>
                </a:solidFill>
              </a:rPr>
              <a:t>pas le bon passage</a:t>
            </a:r>
            <a:endParaRPr lang="en-US" sz="1400" dirty="0"/>
          </a:p>
        </p:txBody>
      </p:sp>
      <p:sp>
        <p:nvSpPr>
          <p:cNvPr id="10" name="Bonus Outil"/>
          <p:cNvSpPr/>
          <p:nvPr/>
        </p:nvSpPr>
        <p:spPr>
          <a:xfrm>
            <a:off x="457200" y="2724912"/>
            <a:ext cx="260604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07792"/>
            <a:ext cx="347472" cy="347472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290779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40080" y="33467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Outil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Gemini l’appelle pour « conteneurs critiques en zone Sud ? » → CTR-SUD-008, 93 %</a:t>
            </a:r>
            <a:endParaRPr lang="en-US" sz="1200" dirty="0"/>
          </a:p>
        </p:txBody>
      </p:sp>
      <p:sp>
        <p:nvSpPr>
          <p:cNvPr id="15" name="Bonus Reflection mesurée"/>
          <p:cNvSpPr/>
          <p:nvPr/>
        </p:nvSpPr>
        <p:spPr>
          <a:xfrm>
            <a:off x="3268980" y="2724912"/>
            <a:ext cx="260604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1860" y="2907792"/>
            <a:ext cx="347472" cy="347472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820" y="2907792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451860" y="33467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Reflection </a:t>
            </a:r>
            <a:r>
              <a:rPr lang="en-US" sz="1500" b="1" dirty="0" err="1" smtClean="0">
                <a:solidFill>
                  <a:schemeClr val="tx1"/>
                </a:solidFill>
              </a:rPr>
              <a:t>testée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345186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1200" dirty="0"/>
              <a:t>10 réponses relues, aucune corrigée : elle ne répare pas la recherche</a:t>
            </a:r>
          </a:p>
        </p:txBody>
      </p:sp>
      <p:sp>
        <p:nvSpPr>
          <p:cNvPr id="20" name="Bonus Injection"/>
          <p:cNvSpPr/>
          <p:nvPr/>
        </p:nvSpPr>
        <p:spPr>
          <a:xfrm>
            <a:off x="6080760" y="2724912"/>
            <a:ext cx="260604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907792"/>
            <a:ext cx="347472" cy="347472"/>
          </a:xfrm>
          <a:prstGeom prst="rect">
            <a:avLst/>
          </a:prstGeom>
        </p:spPr>
      </p:pic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907792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263640" y="33467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Injection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626364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Document piégé reçu en 1re position, l’assistant n’obéit pas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Ce qui nous a compliqué la tâche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 quota gratuit de Gemini</a:t>
            </a:r>
            <a:r>
              <a:rPr lang="en-US" sz="1400" dirty="0">
                <a:solidFill>
                  <a:schemeClr val="tx1"/>
                </a:solidFill>
              </a:rPr>
              <a:t> : 5 requêtes par minute, 20 par jour</a:t>
            </a:r>
            <a:endParaRPr lang="en-US" sz="1400" dirty="0"/>
          </a:p>
        </p:txBody>
      </p:sp>
      <p:sp>
        <p:nvSpPr>
          <p:cNvPr id="4" name="Modèle 3.8-flash"/>
          <p:cNvSpPr/>
          <p:nvPr/>
        </p:nvSpPr>
        <p:spPr>
          <a:xfrm>
            <a:off x="457200" y="1261872"/>
            <a:ext cx="201168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 w="22225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618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3.8-flash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325880"/>
            <a:ext cx="274320" cy="274320"/>
          </a:xfrm>
          <a:prstGeom prst="rect">
            <a:avLst/>
          </a:prstGeom>
        </p:spPr>
      </p:pic>
      <p:sp>
        <p:nvSpPr>
          <p:cNvPr id="7" name="Bascule 1"/>
          <p:cNvSpPr/>
          <p:nvPr/>
        </p:nvSpPr>
        <p:spPr>
          <a:xfrm>
            <a:off x="3063240" y="1467612"/>
            <a:ext cx="4114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Modèle 3.6-flash"/>
          <p:cNvSpPr/>
          <p:nvPr/>
        </p:nvSpPr>
        <p:spPr>
          <a:xfrm>
            <a:off x="3566160" y="1261872"/>
            <a:ext cx="201168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 w="22225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66160" y="12618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3.6-flash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325880"/>
            <a:ext cx="274320" cy="274320"/>
          </a:xfrm>
          <a:prstGeom prst="rect">
            <a:avLst/>
          </a:prstGeom>
        </p:spPr>
      </p:pic>
      <p:sp>
        <p:nvSpPr>
          <p:cNvPr id="11" name="Bascule 2"/>
          <p:cNvSpPr/>
          <p:nvPr/>
        </p:nvSpPr>
        <p:spPr>
          <a:xfrm>
            <a:off x="6172200" y="1467612"/>
            <a:ext cx="4114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Modèle 3.1-flash-lite"/>
          <p:cNvSpPr/>
          <p:nvPr/>
        </p:nvSpPr>
        <p:spPr>
          <a:xfrm>
            <a:off x="6675120" y="1261872"/>
            <a:ext cx="201168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 w="22225">
            <a:solidFill>
              <a:schemeClr val="accent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675120" y="12618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3.1-flash-lite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1801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→ bascule automatique de modèle → </a:t>
            </a:r>
            <a:r>
              <a:rPr lang="en-US" sz="1300" b="1" dirty="0">
                <a:solidFill>
                  <a:schemeClr val="tx1"/>
                </a:solidFill>
              </a:rPr>
              <a:t>3 modèles</a:t>
            </a:r>
            <a:r>
              <a:rPr lang="en-US" sz="1300" dirty="0">
                <a:solidFill>
                  <a:schemeClr val="tx1"/>
                </a:solidFill>
              </a:rPr>
              <a:t> dans nos résultats → la mesure de la Reflection est faussée</a:t>
            </a:r>
            <a:endParaRPr lang="en-US" sz="1300" dirty="0"/>
          </a:p>
        </p:txBody>
      </p:sp>
      <p:sp>
        <p:nvSpPr>
          <p:cNvPr id="15" name="Colab et API"/>
          <p:cNvSpPr/>
          <p:nvPr/>
        </p:nvSpPr>
        <p:spPr>
          <a:xfrm>
            <a:off x="457200" y="2267712"/>
            <a:ext cx="39776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45059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24323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Colab et l’API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58368" y="285292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Modèle du sujet retiré (404) · bibliothèques à ne pas réinstaller · serveurs surchargés (503)</a:t>
            </a:r>
            <a:endParaRPr lang="en-US" sz="1250" dirty="0"/>
          </a:p>
        </p:txBody>
      </p:sp>
      <p:sp>
        <p:nvSpPr>
          <p:cNvPr id="19" name="Q05 dilution"/>
          <p:cNvSpPr/>
          <p:nvPr/>
        </p:nvSpPr>
        <p:spPr>
          <a:xfrm>
            <a:off x="4709160" y="2267712"/>
            <a:ext cx="39776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4910328" y="23774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 question ratée, Q05 : </a:t>
            </a:r>
            <a:r>
              <a:rPr lang="en-US" sz="1400" dirty="0">
                <a:solidFill>
                  <a:schemeClr val="tx1"/>
                </a:solidFill>
              </a:rPr>
              <a:t>la dilution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4910328" y="2697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3"/>
                </a:solidFill>
              </a:rPr>
              <a:t>0,545</a:t>
            </a:r>
            <a:endParaRPr lang="en-US" sz="3200" dirty="0"/>
          </a:p>
        </p:txBody>
      </p:sp>
      <p:sp>
        <p:nvSpPr>
          <p:cNvPr id="22" name="Text 17"/>
          <p:cNvSpPr txBox="1"/>
          <p:nvPr/>
        </p:nvSpPr>
        <p:spPr>
          <a:xfrm>
            <a:off x="4910328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phrase-réponse seule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830568" y="2697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3"/>
                </a:solidFill>
              </a:rPr>
              <a:t>0,359</a:t>
            </a:r>
            <a:endParaRPr lang="en-US" sz="3200" dirty="0"/>
          </a:p>
        </p:txBody>
      </p:sp>
      <p:sp>
        <p:nvSpPr>
          <p:cNvPr id="24" name="Text 19"/>
          <p:cNvSpPr txBox="1"/>
          <p:nvPr/>
        </p:nvSpPr>
        <p:spPr>
          <a:xfrm>
            <a:off x="6830568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noyée dans son passage</a:t>
            </a:r>
            <a:endParaRPr lang="en-US" sz="1100" dirty="0"/>
          </a:p>
        </p:txBody>
      </p:sp>
      <p:sp>
        <p:nvSpPr>
          <p:cNvPr id="25" name="Flèche dilution"/>
          <p:cNvSpPr/>
          <p:nvPr/>
        </p:nvSpPr>
        <p:spPr>
          <a:xfrm>
            <a:off x="6556248" y="2971800"/>
            <a:ext cx="3200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6" name="Text 21"/>
          <p:cNvSpPr txBox="1"/>
          <p:nvPr/>
        </p:nvSpPr>
        <p:spPr>
          <a:xfrm>
            <a:off x="457200" y="39502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Pistes</a:t>
            </a:r>
            <a:endParaRPr lang="en-US" sz="1400" dirty="0"/>
          </a:p>
        </p:txBody>
      </p:sp>
      <p:sp>
        <p:nvSpPr>
          <p:cNvPr id="27" name="Piste top-5"/>
          <p:cNvSpPr/>
          <p:nvPr/>
        </p:nvSpPr>
        <p:spPr>
          <a:xfrm>
            <a:off x="1188720" y="3950208"/>
            <a:ext cx="77724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1188720" y="395020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1"/>
                </a:solidFill>
              </a:rPr>
              <a:t>top-5</a:t>
            </a:r>
            <a:endParaRPr lang="en-US" sz="1150" dirty="0"/>
          </a:p>
        </p:txBody>
      </p:sp>
      <p:sp>
        <p:nvSpPr>
          <p:cNvPr id="29" name="Piste passages plus fins"/>
          <p:cNvSpPr/>
          <p:nvPr/>
        </p:nvSpPr>
        <p:spPr>
          <a:xfrm>
            <a:off x="2075688" y="3950208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2075688" y="39502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1"/>
                </a:solidFill>
              </a:rPr>
              <a:t>passages plus fins</a:t>
            </a:r>
            <a:endParaRPr lang="en-US" sz="1150" dirty="0"/>
          </a:p>
        </p:txBody>
      </p:sp>
      <p:sp>
        <p:nvSpPr>
          <p:cNvPr id="31" name="Piste recherche hybride (mots-clés + vecteurs)"/>
          <p:cNvSpPr/>
          <p:nvPr/>
        </p:nvSpPr>
        <p:spPr>
          <a:xfrm>
            <a:off x="3648456" y="3950208"/>
            <a:ext cx="26974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3648456" y="39502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1"/>
                </a:solidFill>
              </a:rPr>
              <a:t>recherche hybride (mots-clés + vecteurs)</a:t>
            </a:r>
            <a:endParaRPr lang="en-US" sz="1150" dirty="0"/>
          </a:p>
        </p:txBody>
      </p:sp>
      <p:sp>
        <p:nvSpPr>
          <p:cNvPr id="33" name="Piste pgvector dans la base EcoTrack"/>
          <p:cNvSpPr/>
          <p:nvPr/>
        </p:nvSpPr>
        <p:spPr>
          <a:xfrm>
            <a:off x="6455664" y="3950208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455664" y="39502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1"/>
                </a:solidFill>
              </a:rPr>
              <a:t>pgvector dans la base EcoTrack</a:t>
            </a:r>
            <a:endParaRPr lang="en-US" sz="11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oTrack">
  <a:themeElements>
    <a:clrScheme name="EcoTrack">
      <a:dk1>
        <a:srgbClr val="1F2937"/>
      </a:dk1>
      <a:lt1>
        <a:srgbClr val="FFFFFF"/>
      </a:lt1>
      <a:dk2>
        <a:srgbClr val="6B7280"/>
      </a:dk2>
      <a:lt2>
        <a:srgbClr val="F0FDFA"/>
      </a:lt2>
      <a:accent1>
        <a:srgbClr val="14B8A6"/>
      </a:accent1>
      <a:accent2>
        <a:srgbClr val="3B82F6"/>
      </a:accent2>
      <a:accent3>
        <a:srgbClr val="F59E0B"/>
      </a:accent3>
      <a:accent4>
        <a:srgbClr val="22C55E"/>
      </a:accent4>
      <a:accent5>
        <a:srgbClr val="F97316"/>
      </a:accent5>
      <a:accent6>
        <a:srgbClr val="1F2937"/>
      </a:accent6>
      <a:hlink>
        <a:srgbClr val="3B82F6"/>
      </a:hlink>
      <a:folHlink>
        <a:srgbClr val="6B7280"/>
      </a:folHlink>
    </a:clrScheme>
    <a:fontScheme name="EcoTrac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309</Words>
  <Application>Microsoft Office PowerPoint</Application>
  <PresentationFormat>On-screen Show (16:9)</PresentationFormat>
  <Paragraphs>72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Courier New</vt:lpstr>
      <vt:lpstr>EcoTrack</vt:lpstr>
      <vt:lpstr>EcoTrack Assistant</vt:lpstr>
      <vt:lpstr>7 documents, découpés en 14 passages</vt:lpstr>
      <vt:lpstr>Comment l'assistant répond</vt:lpstr>
      <vt:lpstr>Résultats sur les 10 questions du jeu de test</vt:lpstr>
      <vt:lpstr>Ce qui nous a compliqué la tâche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EcoTrack Assistant</dc:title>
  <dc:subject>PptxGenJS Presentation</dc:subject>
  <dc:creator>CHAMSSOUDINE &amp; Mohamed</dc:creator>
  <cp:lastModifiedBy>Cham's</cp:lastModifiedBy>
  <cp:revision>18</cp:revision>
  <dcterms:created xsi:type="dcterms:W3CDTF">2026-10-01T23:25:34Z</dcterms:created>
  <dcterms:modified xsi:type="dcterms:W3CDTF">2026-10-14T17:35:01Z</dcterms:modified>
</cp:coreProperties>
</file>